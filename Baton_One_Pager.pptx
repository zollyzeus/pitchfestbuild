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Baton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CADCFC"/>
                </a:solidFill>
                <a:latin typeface="Calibri"/>
              </a:rPr>
              <a:t>Knowledge transfer you can prove is complete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81160" y="329184"/>
            <a:ext cx="2450592" cy="56692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1B2340"/>
                </a:solidFill>
                <a:latin typeface="Calibri"/>
              </a:rPr>
              <a:t>PITCHFEST 2026</a:t>
            </a:r>
          </a:p>
          <a:p>
            <a:pPr algn="ctr">
              <a:spcBef>
                <a:spcPts val="0"/>
              </a:spcBef>
            </a:pPr>
            <a:r>
              <a:rPr sz="900" b="1">
                <a:solidFill>
                  <a:srgbClr val="1B2340"/>
                </a:solidFill>
                <a:latin typeface="Calibri"/>
              </a:rPr>
              <a:t>ENTERPRISE AI TRACK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3566160" cy="443484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1783080"/>
            <a:ext cx="548640" cy="548640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783080"/>
            <a:ext cx="2331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B2340"/>
                </a:solidFill>
                <a:latin typeface="Calibri"/>
              </a:rPr>
              <a:t>The problem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508760"/>
            <a:ext cx="3566160" cy="443484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00" y="1783080"/>
            <a:ext cx="548640" cy="548640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1783080"/>
            <a:ext cx="2331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B2340"/>
                </a:solidFill>
                <a:latin typeface="Calibri"/>
              </a:rPr>
              <a:t>How AI does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508760"/>
            <a:ext cx="3566160" cy="443484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0" y="1783080"/>
            <a:ext cx="548640" cy="548640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1783080"/>
            <a:ext cx="2331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B2340"/>
                </a:solidFill>
                <a:latin typeface="Calibri"/>
              </a:rPr>
              <a:t>Business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560320"/>
            <a:ext cx="3017520" cy="3108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2A93B"/>
                </a:solidFill>
                <a:latin typeface="Calibri"/>
              </a:rPr>
              <a:t>●  </a:t>
            </a:r>
            <a:r>
              <a:rPr sz="1400">
                <a:solidFill>
                  <a:srgbClr val="1B2340"/>
                </a:solidFill>
                <a:latin typeface="Calibri"/>
              </a:rPr>
              <a:t>KT is a meeting and a checklist: the giver believes they explained, the taker believes they understood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2A93B"/>
                </a:solidFill>
                <a:latin typeface="Calibri"/>
              </a:rPr>
              <a:t>●  </a:t>
            </a:r>
            <a:r>
              <a:rPr sz="1400">
                <a:solidFill>
                  <a:srgbClr val="1B2340"/>
                </a:solidFill>
                <a:latin typeface="Calibri"/>
              </a:rPr>
              <a:t>Nobody tests whether the two accounts match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2A93B"/>
                </a:solidFill>
                <a:latin typeface="Calibri"/>
              </a:rPr>
              <a:t>●  </a:t>
            </a:r>
            <a:r>
              <a:rPr sz="1400">
                <a:solidFill>
                  <a:srgbClr val="1B2340"/>
                </a:solidFill>
                <a:latin typeface="Calibri"/>
              </a:rPr>
              <a:t>Gaps surface months later as incidents and slow ramp-up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2A93B"/>
                </a:solidFill>
                <a:latin typeface="Calibri"/>
              </a:rPr>
              <a:t>●  </a:t>
            </a:r>
            <a:r>
              <a:rPr sz="1400">
                <a:solidFill>
                  <a:srgbClr val="1B2340"/>
                </a:solidFill>
                <a:latin typeface="Calibri"/>
              </a:rPr>
              <a:t>Project managers cannot see KT status, blockers or who is holding it 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560320"/>
            <a:ext cx="3017520" cy="3108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●  </a:t>
            </a:r>
            <a:r>
              <a:rPr sz="1350">
                <a:solidFill>
                  <a:srgbClr val="1B2340"/>
                </a:solidFill>
                <a:latin typeface="Calibri"/>
              </a:rPr>
              <a:t>PM enters project, roles, stack, dev/test environments and duration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●  </a:t>
            </a:r>
            <a:r>
              <a:rPr sz="1350">
                <a:solidFill>
                  <a:srgbClr val="1B2340"/>
                </a:solidFill>
                <a:latin typeface="Calibri"/>
              </a:rPr>
              <a:t>AI writes tailored questions across 12 KT angles, separately for giver and taker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●  </a:t>
            </a:r>
            <a:r>
              <a:rPr sz="1350">
                <a:solidFill>
                  <a:srgbClr val="1B2340"/>
                </a:solidFill>
                <a:latin typeface="Calibri"/>
              </a:rPr>
              <a:t>Answers are recorded independently, then compared for gaps and mismatches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●  </a:t>
            </a:r>
            <a:r>
              <a:rPr sz="1350">
                <a:solidFill>
                  <a:srgbClr val="1B2340"/>
                </a:solidFill>
                <a:latin typeface="Calibri"/>
              </a:rPr>
              <a:t>Gaps become action items for giver or taker; their responses are reviewed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●  </a:t>
            </a:r>
            <a:r>
              <a:rPr sz="1350">
                <a:solidFill>
                  <a:srgbClr val="1B2340"/>
                </a:solidFill>
                <a:latin typeface="Calibri"/>
              </a:rPr>
              <a:t>Code decides: close, keep open for redress, or escalate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560320"/>
            <a:ext cx="914400" cy="5029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2A93B"/>
                </a:solidFill>
                <a:latin typeface="Cambria"/>
              </a:rPr>
              <a:t>4/4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063239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F75"/>
                </a:solidFill>
                <a:latin typeface="Calibri"/>
              </a:rPr>
              <a:t>planted gaps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F75"/>
                </a:solidFill>
                <a:latin typeface="Calibri"/>
              </a:rPr>
              <a:t>detected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2560320"/>
            <a:ext cx="914400" cy="5029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2A93B"/>
                </a:solidFill>
                <a:latin typeface="Cambria"/>
              </a:rPr>
              <a:t>97%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3063239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F75"/>
                </a:solidFill>
                <a:latin typeface="Calibri"/>
              </a:rPr>
              <a:t>final readiness,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F75"/>
                </a:solidFill>
                <a:latin typeface="Calibri"/>
              </a:rPr>
              <a:t>up from 57%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2560320"/>
            <a:ext cx="914400" cy="5029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2A93B"/>
                </a:solidFill>
                <a:latin typeface="Cambria"/>
              </a:rPr>
              <a:t>0/8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3063239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F75"/>
                </a:solidFill>
                <a:latin typeface="Calibri"/>
              </a:rPr>
              <a:t>false alarms on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F75"/>
                </a:solidFill>
                <a:latin typeface="Calibri"/>
              </a:rPr>
              <a:t>sound angles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703320"/>
            <a:ext cx="3017520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2A93B"/>
                </a:solidFill>
                <a:latin typeface="Calibri"/>
              </a:rPr>
              <a:t>●  </a:t>
            </a:r>
            <a:r>
              <a:rPr sz="1400">
                <a:solidFill>
                  <a:srgbClr val="1B2340"/>
                </a:solidFill>
                <a:latin typeface="Calibri"/>
              </a:rPr>
              <a:t>KT closes on evidence, not on a signed checklist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2A93B"/>
                </a:solidFill>
                <a:latin typeface="Calibri"/>
              </a:rPr>
              <a:t>●  </a:t>
            </a:r>
            <a:r>
              <a:rPr sz="1400">
                <a:solidFill>
                  <a:srgbClr val="1B2340"/>
                </a:solidFill>
                <a:latin typeface="Calibri"/>
              </a:rPr>
              <a:t>Manager tracker: stage, day n of N, deadline, who each item waits on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2A93B"/>
                </a:solidFill>
                <a:latin typeface="Calibri"/>
              </a:rPr>
              <a:t>●  </a:t>
            </a:r>
            <a:r>
              <a:rPr sz="1400">
                <a:solidFill>
                  <a:srgbClr val="1B2340"/>
                </a:solidFill>
                <a:latin typeface="Calibri"/>
              </a:rPr>
              <a:t>Full audit trail of questions, answers, actions and the decision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2636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1">
                <a:solidFill>
                  <a:srgbClr val="555F75"/>
                </a:solidFill>
                <a:latin typeface="Calibri"/>
              </a:rPr>
              <a:t>Stack: Python · Streamlit · Google Gemini (structured output) · simulated giver and taker personas, one run, synthetic project · no GPU needed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mbria"/>
              </a:rPr>
              <a:t>Baton workflow: from project brief to a closed, evidenced 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76072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CADCFC"/>
                </a:solidFill>
                <a:latin typeface="Calibri"/>
              </a:rPr>
              <a:t>Independent giver and taker Q&amp;A, gap assessment, action items, review, and a decision the manager can track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15568"/>
            <a:ext cx="1772869" cy="1874519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1772869" cy="384048"/>
          </a:xfrm>
          <a:prstGeom prst="rect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152144"/>
            <a:ext cx="158998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1 Brief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18488"/>
            <a:ext cx="1553413" cy="1325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B2340"/>
                </a:solidFill>
                <a:latin typeface="Calibri"/>
              </a:rPr>
              <a:t>PM enters project, roles, tech stack, dev/test env, duration, extra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58085" y="1115568"/>
            <a:ext cx="1772869" cy="1874519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58085" y="1115568"/>
            <a:ext cx="1772869" cy="384048"/>
          </a:xfrm>
          <a:prstGeom prst="rect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7813" y="1152144"/>
            <a:ext cx="158998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2 Q&amp;A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7813" y="1618488"/>
            <a:ext cx="1553413" cy="1325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B2340"/>
                </a:solidFill>
                <a:latin typeface="Calibri"/>
              </a:rPr>
              <a:t>Giver and taker answer separately. Round 1: 12 angles. Round 2: follow-ups on weak angles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8970" y="1115568"/>
            <a:ext cx="1772869" cy="1874519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8970" y="1115568"/>
            <a:ext cx="1772869" cy="384048"/>
          </a:xfrm>
          <a:prstGeom prst="rect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8698" y="1152144"/>
            <a:ext cx="158998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3 Assess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8698" y="1618488"/>
            <a:ext cx="1553413" cy="1325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B2340"/>
                </a:solidFill>
                <a:latin typeface="Calibri"/>
              </a:rPr>
              <a:t>AI compares both sides per angle; quotes verified in code; readiness scored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9855" y="1115568"/>
            <a:ext cx="1772869" cy="1874519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9855" y="1115568"/>
            <a:ext cx="1772869" cy="384048"/>
          </a:xfrm>
          <a:prstGeom prst="rect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583" y="1152144"/>
            <a:ext cx="158998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4 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9583" y="1618488"/>
            <a:ext cx="1553413" cy="1325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B2340"/>
                </a:solidFill>
                <a:latin typeface="Calibri"/>
              </a:rPr>
              <a:t>Gaps become action items for giver or taker; each replies with proof or a justification to ignore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0740" y="1115568"/>
            <a:ext cx="1772869" cy="1874519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60740" y="1115568"/>
            <a:ext cx="1772869" cy="384048"/>
          </a:xfrm>
          <a:prstGeom prst="rect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70468" y="1152144"/>
            <a:ext cx="158998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5 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70468" y="1618488"/>
            <a:ext cx="1553413" cy="1325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B2340"/>
                </a:solidFill>
                <a:latin typeface="Calibri"/>
              </a:rPr>
              <a:t>AI reviews responses; vague or weak justifications are rejected with a reason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61626" y="1115568"/>
            <a:ext cx="1772869" cy="1874519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961626" y="1115568"/>
            <a:ext cx="1772869" cy="384048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71354" y="1152144"/>
            <a:ext cx="158998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2340"/>
                </a:solidFill>
                <a:latin typeface="Calibri"/>
              </a:rPr>
              <a:t>6 Decide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71354" y="1618488"/>
            <a:ext cx="1553413" cy="1325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B2340"/>
                </a:solidFill>
                <a:latin typeface="Calibri"/>
              </a:rPr>
              <a:t>Code rule: Close, keep open for one redress round, or Escalate to manager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044951"/>
            <a:ext cx="112772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1">
                <a:solidFill>
                  <a:srgbClr val="555F75"/>
                </a:solidFill>
                <a:latin typeface="Calibri"/>
              </a:rPr>
              <a:t>Redress loop: unresolved items return to their owner once, with the reviewer's note. Still unresolved: escalated.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401568"/>
            <a:ext cx="3637178" cy="278892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3511296"/>
            <a:ext cx="327141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340"/>
                </a:solidFill>
                <a:latin typeface="Calibri"/>
              </a:rPr>
              <a:t>Scoring and live eval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3904488"/>
            <a:ext cx="3271418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850" b="1">
                <a:solidFill>
                  <a:srgbClr val="F2A93B"/>
                </a:solidFill>
                <a:latin typeface="Calibri"/>
              </a:rPr>
              <a:t>●  </a:t>
            </a:r>
            <a:r>
              <a:rPr sz="1050">
                <a:solidFill>
                  <a:srgbClr val="1B2340"/>
                </a:solidFill>
                <a:latin typeface="Calibri"/>
              </a:rPr>
              <a:t>Readiness = weighted share of 12 angles: architecture, environments, CI/CD, incidents, security, in-flight work and more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850" b="1">
                <a:solidFill>
                  <a:srgbClr val="F2A93B"/>
                </a:solidFill>
                <a:latin typeface="Calibri"/>
              </a:rPr>
              <a:t>●  </a:t>
            </a:r>
            <a:r>
              <a:rPr sz="1050">
                <a:solidFill>
                  <a:srgbClr val="1B2340"/>
                </a:solidFill>
                <a:latin typeface="Calibri"/>
              </a:rPr>
              <a:t>Covered only if both sides give verifiable quotes and the taker's answer matches the giver's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850" b="1">
                <a:solidFill>
                  <a:srgbClr val="F2A93B"/>
                </a:solidFill>
                <a:latin typeface="Calibri"/>
              </a:rPr>
              <a:t>●  </a:t>
            </a:r>
            <a:r>
              <a:rPr sz="1050">
                <a:solidFill>
                  <a:srgbClr val="1B2340"/>
                </a:solidFill>
                <a:latin typeface="Calibri"/>
              </a:rPr>
              <a:t>Close needs every action accepted and readiness at or above the manager's target (default 80%)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850" b="1">
                <a:solidFill>
                  <a:srgbClr val="F2A93B"/>
                </a:solidFill>
                <a:latin typeface="Calibri"/>
              </a:rPr>
              <a:t>●  </a:t>
            </a:r>
            <a:r>
              <a:rPr sz="1050">
                <a:solidFill>
                  <a:srgbClr val="1B2340"/>
                </a:solidFill>
                <a:latin typeface="Calibri"/>
              </a:rPr>
              <a:t>Live readiness trail: 57% → 66% → 95% → 97%; closed after 1 redress round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77258" y="3401568"/>
            <a:ext cx="3637178" cy="278892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60138" y="3511296"/>
            <a:ext cx="327141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340"/>
                </a:solidFill>
                <a:latin typeface="Calibri"/>
              </a:rPr>
              <a:t>Manager tracker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60138" y="3904488"/>
            <a:ext cx="3271418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850" b="1">
                <a:solidFill>
                  <a:srgbClr val="F2A93B"/>
                </a:solidFill>
                <a:latin typeface="Calibri"/>
              </a:rPr>
              <a:t>●  </a:t>
            </a:r>
            <a:r>
              <a:rPr sz="1050">
                <a:solidFill>
                  <a:srgbClr val="1B2340"/>
                </a:solidFill>
                <a:latin typeface="Calibri"/>
              </a:rPr>
              <a:t>Every KT: stage, day n of N, deadline, days left, overdue flag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850" b="1">
                <a:solidFill>
                  <a:srgbClr val="F2A93B"/>
                </a:solidFill>
                <a:latin typeface="Calibri"/>
              </a:rPr>
              <a:t>●  </a:t>
            </a:r>
            <a:r>
              <a:rPr sz="1050">
                <a:solidFill>
                  <a:srgbClr val="1B2340"/>
                </a:solidFill>
                <a:latin typeface="Calibri"/>
              </a:rPr>
              <a:t>Who each KT is waiting on: giver, taker or manager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850" b="1">
                <a:solidFill>
                  <a:srgbClr val="F2A93B"/>
                </a:solidFill>
                <a:latin typeface="Calibri"/>
              </a:rPr>
              <a:t>●  </a:t>
            </a:r>
            <a:r>
              <a:rPr sz="1050">
                <a:solidFill>
                  <a:srgbClr val="1B2340"/>
                </a:solidFill>
                <a:latin typeface="Calibri"/>
              </a:rPr>
              <a:t>Action items across KTs with owner, severity, due date, state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850" b="1">
                <a:solidFill>
                  <a:srgbClr val="F2A93B"/>
                </a:solidFill>
                <a:latin typeface="Calibri"/>
              </a:rPr>
              <a:t>●  </a:t>
            </a:r>
            <a:r>
              <a:rPr sz="1050">
                <a:solidFill>
                  <a:srgbClr val="1B2340"/>
                </a:solidFill>
                <a:latin typeface="Calibri"/>
              </a:rPr>
              <a:t>Timeline of stage changes, time in stage, readiness trend, override with a note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7316" y="3401568"/>
            <a:ext cx="3637178" cy="278892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80196" y="3511296"/>
            <a:ext cx="327141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340"/>
                </a:solidFill>
                <a:latin typeface="Calibri"/>
              </a:rPr>
              <a:t>AI, code and human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80196" y="3904488"/>
            <a:ext cx="3271418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850" b="1">
                <a:solidFill>
                  <a:srgbClr val="F2A93B"/>
                </a:solidFill>
                <a:latin typeface="Calibri"/>
              </a:rPr>
              <a:t>●  </a:t>
            </a:r>
            <a:r>
              <a:rPr sz="1050">
                <a:solidFill>
                  <a:srgbClr val="1B2340"/>
                </a:solidFill>
                <a:latin typeface="Calibri"/>
              </a:rPr>
              <a:t>AI: writes the questions, compares answers, recommends actions, reviews responses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850" b="1">
                <a:solidFill>
                  <a:srgbClr val="F2A93B"/>
                </a:solidFill>
                <a:latin typeface="Calibri"/>
              </a:rPr>
              <a:t>●  </a:t>
            </a:r>
            <a:r>
              <a:rPr sz="1050">
                <a:solidFill>
                  <a:srgbClr val="1B2340"/>
                </a:solidFill>
                <a:latin typeface="Calibri"/>
              </a:rPr>
              <a:t>Code: verifies quotes, scores readiness, applies the close / redress / escalate rule, tracks dates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850" b="1">
                <a:solidFill>
                  <a:srgbClr val="F2A93B"/>
                </a:solidFill>
                <a:latin typeface="Calibri"/>
              </a:rPr>
              <a:t>●  </a:t>
            </a:r>
            <a:r>
              <a:rPr sz="1050">
                <a:solidFill>
                  <a:srgbClr val="1B2340"/>
                </a:solidFill>
                <a:latin typeface="Calibri"/>
              </a:rPr>
              <a:t>Giver and taker: answer independently; act on items or justify ignoring them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850" b="1">
                <a:solidFill>
                  <a:srgbClr val="F2A93B"/>
                </a:solidFill>
                <a:latin typeface="Calibri"/>
              </a:rPr>
              <a:t>●  </a:t>
            </a:r>
            <a:r>
              <a:rPr sz="1050">
                <a:solidFill>
                  <a:srgbClr val="1B2340"/>
                </a:solidFill>
                <a:latin typeface="Calibri"/>
              </a:rPr>
              <a:t>Manager: sets inputs and target; owns escalations and overrides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355080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5F75"/>
                </a:solidFill>
                <a:latin typeface="Calibri"/>
              </a:rPr>
              <a:t>Eval: simulated giver and taker personas with 4 planted weak angles, one synthetic project, one run (69 s end to end). The target is a stopping rule, not proof of completeness.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