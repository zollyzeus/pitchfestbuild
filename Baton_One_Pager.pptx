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Baton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CADCFC"/>
                </a:solidFill>
                <a:latin typeface="Calibri"/>
              </a:rPr>
              <a:t>Knowledge transfer you can prove is 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182880"/>
            <a:ext cx="2267712" cy="51206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1B2340"/>
                </a:solidFill>
                <a:latin typeface="Calibri"/>
              </a:rPr>
              <a:t>PITCHFEST 2026</a:t>
            </a:r>
          </a:p>
          <a:p>
            <a:pPr algn="ctr">
              <a:spcBef>
                <a:spcPts val="0"/>
              </a:spcBef>
            </a:pPr>
            <a:r>
              <a:rPr sz="800" b="1">
                <a:solidFill>
                  <a:srgbClr val="1B2340"/>
                </a:solidFill>
                <a:latin typeface="Calibri"/>
              </a:rPr>
              <a:t>ENTERPRISE AI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3566160" cy="370332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4944" y="1243584"/>
            <a:ext cx="475488" cy="47548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243584"/>
            <a:ext cx="246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B2340"/>
                </a:solidFill>
                <a:latin typeface="Calibri"/>
              </a:rPr>
              <a:t>The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05840"/>
            <a:ext cx="3566160" cy="370332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35424" y="1243584"/>
            <a:ext cx="475488" cy="47548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243584"/>
            <a:ext cx="246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B2340"/>
                </a:solidFill>
                <a:latin typeface="Calibri"/>
              </a:rPr>
              <a:t>How AI does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05840"/>
            <a:ext cx="3566160" cy="370332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75904" y="1243584"/>
            <a:ext cx="475488" cy="47548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1243584"/>
            <a:ext cx="246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B2340"/>
                </a:solidFill>
                <a:latin typeface="Calibri"/>
              </a:rP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901952"/>
            <a:ext cx="3054096" cy="2606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>
                <a:solidFill>
                  <a:srgbClr val="F2A93B"/>
                </a:solidFill>
                <a:latin typeface="Calibri"/>
              </a:rPr>
              <a:t>●  </a:t>
            </a:r>
            <a:r>
              <a:rPr sz="1300">
                <a:solidFill>
                  <a:srgbClr val="1B2340"/>
                </a:solidFill>
                <a:latin typeface="Calibri"/>
              </a:rPr>
              <a:t>KT is a meeting and a checklist: nobody tests whether the giver and taker actually agree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>
                <a:solidFill>
                  <a:srgbClr val="F2A93B"/>
                </a:solidFill>
                <a:latin typeface="Calibri"/>
              </a:rPr>
              <a:t>●  </a:t>
            </a:r>
            <a:r>
              <a:rPr sz="1300">
                <a:solidFill>
                  <a:srgbClr val="1B2340"/>
                </a:solidFill>
                <a:latin typeface="Calibri"/>
              </a:rPr>
              <a:t>Gaps surface months later as incidents and slow ramp-up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>
                <a:solidFill>
                  <a:srgbClr val="F2A93B"/>
                </a:solidFill>
                <a:latin typeface="Calibri"/>
              </a:rPr>
              <a:t>●  </a:t>
            </a:r>
            <a:r>
              <a:rPr sz="1300">
                <a:solidFill>
                  <a:srgbClr val="1B2340"/>
                </a:solidFill>
                <a:latin typeface="Calibri"/>
              </a:rPr>
              <a:t>Project managers can't see KT status, blockers, or who is holding it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901952"/>
            <a:ext cx="3054096" cy="2606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50" b="1">
                <a:solidFill>
                  <a:srgbClr val="F2A93B"/>
                </a:solidFill>
                <a:latin typeface="Calibri"/>
              </a:rPr>
              <a:t>●  </a:t>
            </a:r>
            <a:r>
              <a:rPr sz="1250">
                <a:solidFill>
                  <a:srgbClr val="1B2340"/>
                </a:solidFill>
                <a:latin typeface="Calibri"/>
              </a:rPr>
              <a:t>AI asks giver and taker separately; round 2 follows up on weak angles only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50" b="1">
                <a:solidFill>
                  <a:srgbClr val="F2A93B"/>
                </a:solidFill>
                <a:latin typeface="Calibri"/>
              </a:rPr>
              <a:t>●  </a:t>
            </a:r>
            <a:r>
              <a:rPr sz="1250">
                <a:solidFill>
                  <a:srgbClr val="1B2340"/>
                </a:solidFill>
                <a:latin typeface="Calibri"/>
              </a:rPr>
              <a:t>Code verifies quotes and scores readiness against the manager's target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50" b="1">
                <a:solidFill>
                  <a:srgbClr val="F2A93B"/>
                </a:solidFill>
                <a:latin typeface="Calibri"/>
              </a:rPr>
              <a:t>●  </a:t>
            </a:r>
            <a:r>
              <a:rPr sz="1250">
                <a:solidFill>
                  <a:srgbClr val="1B2340"/>
                </a:solidFill>
                <a:latin typeface="Calibri"/>
              </a:rPr>
              <a:t>AI recommends and reviews action items; code decides close / redress / escalate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50" b="1">
                <a:solidFill>
                  <a:srgbClr val="F2A93B"/>
                </a:solidFill>
                <a:latin typeface="Calibri"/>
              </a:rPr>
              <a:t>●  </a:t>
            </a:r>
            <a:r>
              <a:rPr sz="1250">
                <a:solidFill>
                  <a:srgbClr val="1B2340"/>
                </a:solidFill>
                <a:latin typeface="Calibri"/>
              </a:rPr>
              <a:t>Full audit trail: every question, answer, action and decision is logged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01952"/>
            <a:ext cx="944879" cy="42062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2A93B"/>
                </a:solidFill>
                <a:latin typeface="Cambria"/>
              </a:rPr>
              <a:t>4/4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322576"/>
            <a:ext cx="944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F75"/>
                </a:solidFill>
                <a:latin typeface="Calibri"/>
              </a:rPr>
              <a:t>planted gaps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F75"/>
                </a:solidFill>
                <a:latin typeface="Calibri"/>
              </a:rPr>
              <a:t>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799" y="1901952"/>
            <a:ext cx="944879" cy="42062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2A93B"/>
                </a:solidFill>
                <a:latin typeface="Cambria"/>
              </a:rPr>
              <a:t>97%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8799" y="2322576"/>
            <a:ext cx="944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F75"/>
                </a:solidFill>
                <a:latin typeface="Calibri"/>
              </a:rPr>
              <a:t>final readiness,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F75"/>
                </a:solidFill>
                <a:latin typeface="Calibri"/>
              </a:rPr>
              <a:t>up from 57%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3408" y="1901952"/>
            <a:ext cx="944879" cy="42062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2A93B"/>
                </a:solidFill>
                <a:latin typeface="Cambria"/>
              </a:rPr>
              <a:t>0/8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3408" y="2322576"/>
            <a:ext cx="944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F75"/>
                </a:solidFill>
                <a:latin typeface="Calibri"/>
              </a:rPr>
              <a:t>false alarms on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F75"/>
                </a:solidFill>
                <a:latin typeface="Calibri"/>
              </a:rPr>
              <a:t>sound angles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834640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>
                <a:solidFill>
                  <a:srgbClr val="F2A93B"/>
                </a:solidFill>
                <a:latin typeface="Calibri"/>
              </a:rPr>
              <a:t>●  </a:t>
            </a:r>
            <a:r>
              <a:rPr sz="1300">
                <a:solidFill>
                  <a:srgbClr val="1B2340"/>
                </a:solidFill>
                <a:latin typeface="Calibri"/>
              </a:rPr>
              <a:t>KT closes on evidence, not on a signed checklist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>
                <a:solidFill>
                  <a:srgbClr val="F2A93B"/>
                </a:solidFill>
                <a:latin typeface="Calibri"/>
              </a:rPr>
              <a:t>●  </a:t>
            </a:r>
            <a:r>
              <a:rPr sz="1300">
                <a:solidFill>
                  <a:srgbClr val="1B2340"/>
                </a:solidFill>
                <a:latin typeface="Calibri"/>
              </a:rPr>
              <a:t>Manager tracker: stage, day n of N, deadline, who each item waits on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100" b="1">
                <a:solidFill>
                  <a:srgbClr val="F2A93B"/>
                </a:solidFill>
                <a:latin typeface="Calibri"/>
              </a:rPr>
              <a:t>●  </a:t>
            </a:r>
            <a:r>
              <a:rPr sz="1300">
                <a:solidFill>
                  <a:srgbClr val="1B2340"/>
                </a:solidFill>
                <a:latin typeface="Calibri"/>
              </a:rPr>
              <a:t>Turns a KT into an auditable, escalation-ready 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28032"/>
            <a:ext cx="1780489" cy="9144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828032"/>
            <a:ext cx="1780489" cy="292608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163418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1 Brief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75504"/>
            <a:ext cx="159760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2340"/>
                </a:solidFill>
                <a:latin typeface="Calibri"/>
              </a:rPr>
              <a:t>PM enters project, roles, stack, dev/test env, duration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56561" y="4828032"/>
            <a:ext cx="1780489" cy="9144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56561" y="4828032"/>
            <a:ext cx="1780489" cy="292608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48001" y="4846320"/>
            <a:ext cx="163418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2 Q&amp;A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8001" y="5175504"/>
            <a:ext cx="159760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2340"/>
                </a:solidFill>
                <a:latin typeface="Calibri"/>
              </a:rPr>
              <a:t>Giver &amp; taker answer independently across 12 KT angles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5922" y="4828032"/>
            <a:ext cx="1780489" cy="9144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5922" y="4828032"/>
            <a:ext cx="1780489" cy="292608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7362" y="4846320"/>
            <a:ext cx="163418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3 Assess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7362" y="5175504"/>
            <a:ext cx="159760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2340"/>
                </a:solidFill>
                <a:latin typeface="Calibri"/>
              </a:rPr>
              <a:t>AI compares both sides; quotes verified in code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5283" y="4828032"/>
            <a:ext cx="1780489" cy="9144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5283" y="4828032"/>
            <a:ext cx="1780489" cy="292608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6723" y="4846320"/>
            <a:ext cx="163418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4 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6723" y="5175504"/>
            <a:ext cx="159760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2340"/>
                </a:solidFill>
                <a:latin typeface="Calibri"/>
              </a:rPr>
              <a:t>Gaps become owned action items, with proof or justification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54644" y="4828032"/>
            <a:ext cx="1780489" cy="9144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54644" y="4828032"/>
            <a:ext cx="1780489" cy="292608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46084" y="4846320"/>
            <a:ext cx="163418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5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46084" y="5175504"/>
            <a:ext cx="159760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2340"/>
                </a:solidFill>
                <a:latin typeface="Calibri"/>
              </a:rPr>
              <a:t>AI reviews responses; weak justifications rejected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54006" y="4828032"/>
            <a:ext cx="1780489" cy="9144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954006" y="4828032"/>
            <a:ext cx="1780489" cy="29260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5446" y="4846320"/>
            <a:ext cx="163418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340"/>
                </a:solidFill>
                <a:latin typeface="Calibri"/>
              </a:rPr>
              <a:t>6 Decide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45446" y="5175504"/>
            <a:ext cx="159760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2340"/>
                </a:solidFill>
                <a:latin typeface="Calibri"/>
              </a:rPr>
              <a:t>Code: Close, one redress round, or Escalate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769864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55F75"/>
                </a:solidFill>
                <a:latin typeface="Calibri"/>
              </a:rPr>
              <a:t>Redress loop: a rejected item returns to its owner once, with the reviewer's note. Still unresolved: escalated to the manager.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016752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555F75"/>
                </a:solidFill>
                <a:latin typeface="Calibri"/>
              </a:rPr>
              <a:t>Stack: Python · Streamlit · Google Gemini (structured output), Groq fallback on outage/quota · no GPU needed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28192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555F75"/>
                </a:solidFill>
                <a:latin typeface="Calibri"/>
              </a:rPr>
              <a:t>Eval: simulated giver/taker personas, 4 planted weak angles, one synthetic project, one run (69s end to end). Target is a stopping rule, not proof of completeness.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